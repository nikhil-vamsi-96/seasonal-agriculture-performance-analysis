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7" r:id="rId11"/>
    <p:sldId id="340" r:id="rId12"/>
    <p:sldId id="344" r:id="rId13"/>
    <p:sldId id="345" r:id="rId14"/>
    <p:sldId id="342" r:id="rId15"/>
    <p:sldId id="348"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59" d="100"/>
          <a:sy n="59" d="100"/>
        </p:scale>
        <p:origin x="42" y="9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nikhil-vamsi-96/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83914"/>
            <a:ext cx="10062173" cy="861497"/>
          </a:xfrm>
        </p:spPr>
        <p:txBody>
          <a:bodyPr vert="horz" lIns="91440" tIns="45720" rIns="91440" bIns="45720" rtlCol="0" anchor="t">
            <a:normAutofit/>
          </a:bodyPr>
          <a:lstStyle/>
          <a:p>
            <a:r>
              <a:rPr lang="en-US" dirty="0">
                <a:solidFill>
                  <a:schemeClr val="tx1"/>
                </a:solidFill>
              </a:rPr>
              <a:t>Student Name – NIKHIL VAMSI BANDAARU </a:t>
            </a:r>
            <a:endParaRPr lang="en-IN" dirty="0">
              <a:solidFill>
                <a:schemeClr val="tx1"/>
              </a:solidFill>
            </a:endParaRPr>
          </a:p>
          <a:p>
            <a:r>
              <a:rPr lang="en-US" dirty="0">
                <a:solidFill>
                  <a:schemeClr val="tx1"/>
                </a:solidFill>
              </a:rPr>
              <a:t>College Name - </a:t>
            </a:r>
            <a:r>
              <a:rPr lang="en-IN" dirty="0" err="1">
                <a:solidFill>
                  <a:schemeClr val="tx1"/>
                </a:solidFill>
              </a:rPr>
              <a:t>Velagapudi</a:t>
            </a:r>
            <a:r>
              <a:rPr lang="en-IN" dirty="0">
                <a:solidFill>
                  <a:schemeClr val="tx1"/>
                </a:solidFill>
              </a:rPr>
              <a:t> Ramakrishna Siddhartha Engineering College</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0059767"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76469"/>
            <a:ext cx="9487639" cy="369332"/>
          </a:xfrm>
          <a:prstGeom prst="rect">
            <a:avLst/>
          </a:prstGeom>
          <a:noFill/>
        </p:spPr>
        <p:txBody>
          <a:bodyPr wrap="square" rtlCol="0">
            <a:spAutoFit/>
          </a:bodyPr>
          <a:lstStyle/>
          <a:p>
            <a:r>
              <a:rPr lang="en-US" b="1" dirty="0"/>
              <a:t>AICTE STU ID : STU6655f9316508b1716910385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7191212" cy="3607987"/>
          </a:xfrm>
        </p:spPr>
        <p:txBody>
          <a:bodyPr vert="horz" lIns="91440" tIns="45720" rIns="91440" bIns="45720" rtlCol="0" anchor="t">
            <a:normAutofit fontScale="77500" lnSpcReduction="20000"/>
          </a:bodyPr>
          <a:lstStyle/>
          <a:p>
            <a:r>
              <a:rPr lang="en-US" sz="2800" dirty="0"/>
              <a:t>Agricultural performance is influenced by </a:t>
            </a:r>
            <a:r>
              <a:rPr lang="en-US" sz="2800" b="1" dirty="0"/>
              <a:t>seasonal variations, environmental conditions, farming practices, resource availability, and market conditions</a:t>
            </a:r>
            <a:r>
              <a:rPr lang="en-US" sz="2800" dirty="0"/>
              <a:t>. As a result, agricultural outcomes may vary across different seasons.</a:t>
            </a:r>
          </a:p>
          <a:p>
            <a:r>
              <a:rPr lang="en-US" sz="2800" dirty="0"/>
              <a:t>However, raw agricultural data does not clearly reveal these </a:t>
            </a:r>
            <a:r>
              <a:rPr lang="en-US" sz="2800" b="1" dirty="0"/>
              <a:t>seasonal patterns, trends, relationships, and variations</a:t>
            </a:r>
            <a:r>
              <a:rPr lang="en-US" sz="2800" dirty="0"/>
              <a:t>.</a:t>
            </a:r>
          </a:p>
          <a:p>
            <a:r>
              <a:rPr lang="en-US" sz="2800" b="1" dirty="0"/>
              <a:t>The objective of this project is to analyze the agricultural dataset and identify meaningful seasonal differences in agricultural performance using data analytics and visualization techniques.</a:t>
            </a:r>
            <a:endParaRPr lang="en-US" sz="2800" dirty="0"/>
          </a:p>
          <a:p>
            <a:pPr>
              <a:lnSpc>
                <a:spcPct val="10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0286C042-73B7-47A9-BC7F-7EA989C45420}"/>
              </a:ext>
            </a:extLst>
          </p:cNvPr>
          <p:cNvSpPr txBox="1"/>
          <p:nvPr/>
        </p:nvSpPr>
        <p:spPr>
          <a:xfrm>
            <a:off x="793019" y="2362874"/>
            <a:ext cx="8261969" cy="3416320"/>
          </a:xfrm>
          <a:prstGeom prst="rect">
            <a:avLst/>
          </a:prstGeom>
          <a:noFill/>
        </p:spPr>
        <p:txBody>
          <a:bodyPr wrap="square" rtlCol="0">
            <a:spAutoFit/>
          </a:bodyPr>
          <a:lstStyle/>
          <a:p>
            <a:pPr algn="just"/>
            <a:r>
              <a:rPr lang="en-US" sz="2400" dirty="0"/>
              <a:t>This project analyzes agricultural data to identify seasonal patterns, crop-wise performance, profitability, and relationships among key agricultural variables. Using Python, Pandas, NumPy, Matplotlib, and Seaborn, the project performs data cleaning, exploratory analysis, statistical analysis, correlation analysis, seasonal comparisons, and outlier detection. The insights support data-driven agricultural planning, crop selection, and resource allocation.</a:t>
            </a:r>
            <a:endParaRPr lang="en-IN" sz="24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6A754225-28FA-4C7D-B273-61B4C597CB61}"/>
              </a:ext>
            </a:extLst>
          </p:cNvPr>
          <p:cNvSpPr>
            <a:spLocks noGrp="1" noChangeArrowheads="1"/>
          </p:cNvSpPr>
          <p:nvPr>
            <p:ph type="body" sz="quarter" idx="12"/>
          </p:nvPr>
        </p:nvSpPr>
        <p:spPr bwMode="auto">
          <a:xfrm>
            <a:off x="620008" y="2121148"/>
            <a:ext cx="886791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Farmers</a:t>
            </a:r>
            <a:r>
              <a:rPr kumimoji="0" lang="en-US" altLang="en-US" sz="1800" b="0" i="0" u="none" strike="noStrike" cap="none" normalizeH="0" baseline="0" dirty="0">
                <a:ln>
                  <a:noFill/>
                </a:ln>
                <a:solidFill>
                  <a:schemeClr val="tx1"/>
                </a:solidFill>
                <a:effectLst/>
                <a:latin typeface="Arial" panose="020B0604020202020204" pitchFamily="34" charset="0"/>
              </a:rPr>
              <a:t> – To identify profitable crops and suitable seasons for cultivation.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Agricultural Planners</a:t>
            </a:r>
            <a:r>
              <a:rPr kumimoji="0" lang="en-US" altLang="en-US" sz="1800" b="0" i="0" u="none" strike="noStrike" cap="none" normalizeH="0" baseline="0" dirty="0">
                <a:ln>
                  <a:noFill/>
                </a:ln>
                <a:solidFill>
                  <a:schemeClr val="tx1"/>
                </a:solidFill>
                <a:effectLst/>
                <a:latin typeface="Arial" panose="020B0604020202020204" pitchFamily="34" charset="0"/>
              </a:rPr>
              <a:t> – To support seasonal planning and resource allocation.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Government &amp; Policymakers</a:t>
            </a:r>
            <a:r>
              <a:rPr kumimoji="0" lang="en-US" altLang="en-US" sz="1800" b="0" i="0" u="none" strike="noStrike" cap="none" normalizeH="0" baseline="0" dirty="0">
                <a:ln>
                  <a:noFill/>
                </a:ln>
                <a:solidFill>
                  <a:schemeClr val="tx1"/>
                </a:solidFill>
                <a:effectLst/>
                <a:latin typeface="Arial" panose="020B0604020202020204" pitchFamily="34" charset="0"/>
              </a:rPr>
              <a:t> – To understand agricultural trends and support data-driven decisions.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Agribusinesses</a:t>
            </a:r>
            <a:r>
              <a:rPr kumimoji="0" lang="en-US" altLang="en-US" sz="1800" b="0" i="0" u="none" strike="noStrike" cap="none" normalizeH="0" baseline="0" dirty="0">
                <a:ln>
                  <a:noFill/>
                </a:ln>
                <a:solidFill>
                  <a:schemeClr val="tx1"/>
                </a:solidFill>
                <a:effectLst/>
                <a:latin typeface="Arial" panose="020B0604020202020204" pitchFamily="34" charset="0"/>
              </a:rPr>
              <a:t> – To evaluate crop profitability and production patterns.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Agricultural Researchers</a:t>
            </a:r>
            <a:r>
              <a:rPr kumimoji="0" lang="en-US" altLang="en-US" sz="1800" b="0" i="0" u="none" strike="noStrike" cap="none" normalizeH="0" baseline="0" dirty="0">
                <a:ln>
                  <a:noFill/>
                </a:ln>
                <a:solidFill>
                  <a:schemeClr val="tx1"/>
                </a:solidFill>
                <a:effectLst/>
                <a:latin typeface="Arial" panose="020B0604020202020204" pitchFamily="34" charset="0"/>
              </a:rPr>
              <a:t> – To study seasonal variations, crop performance, and agricultural trends.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F3B297AC-9BBA-4A4D-9BFF-0ABB097EE965}"/>
              </a:ext>
            </a:extLst>
          </p:cNvPr>
          <p:cNvSpPr>
            <a:spLocks noGrp="1" noChangeArrowheads="1"/>
          </p:cNvSpPr>
          <p:nvPr>
            <p:ph type="body" sz="quarter" idx="12"/>
          </p:nvPr>
        </p:nvSpPr>
        <p:spPr bwMode="auto">
          <a:xfrm>
            <a:off x="1488399" y="1984899"/>
            <a:ext cx="843852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Python</a:t>
            </a:r>
            <a:r>
              <a:rPr kumimoji="0" lang="en-US" altLang="en-US" b="0" i="0" u="none" strike="noStrike" cap="none" normalizeH="0" baseline="0" dirty="0">
                <a:ln>
                  <a:noFill/>
                </a:ln>
                <a:solidFill>
                  <a:schemeClr val="tx1"/>
                </a:solidFill>
                <a:effectLst/>
                <a:latin typeface="Arial" panose="020B0604020202020204" pitchFamily="34" charset="0"/>
              </a:rPr>
              <a:t> – Programming and data analysis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Pandas</a:t>
            </a:r>
            <a:r>
              <a:rPr kumimoji="0" lang="en-US" altLang="en-US" b="0" i="0" u="none" strike="noStrike" cap="none" normalizeH="0" baseline="0" dirty="0">
                <a:ln>
                  <a:noFill/>
                </a:ln>
                <a:solidFill>
                  <a:schemeClr val="tx1"/>
                </a:solidFill>
                <a:effectLst/>
                <a:latin typeface="Arial" panose="020B0604020202020204" pitchFamily="34" charset="0"/>
              </a:rPr>
              <a:t> – Data cleaning, manipulation, and analysis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NumPy</a:t>
            </a:r>
            <a:r>
              <a:rPr kumimoji="0" lang="en-US" altLang="en-US" b="0" i="0" u="none" strike="noStrike" cap="none" normalizeH="0" baseline="0" dirty="0">
                <a:ln>
                  <a:noFill/>
                </a:ln>
                <a:solidFill>
                  <a:schemeClr val="tx1"/>
                </a:solidFill>
                <a:effectLst/>
                <a:latin typeface="Arial" panose="020B0604020202020204" pitchFamily="34" charset="0"/>
              </a:rPr>
              <a:t> – Numerical computations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Matplotlib</a:t>
            </a:r>
            <a:r>
              <a:rPr kumimoji="0" lang="en-US" altLang="en-US" b="0" i="0" u="none" strike="noStrike" cap="none" normalizeH="0" baseline="0" dirty="0">
                <a:ln>
                  <a:noFill/>
                </a:ln>
                <a:solidFill>
                  <a:schemeClr val="tx1"/>
                </a:solidFill>
                <a:effectLst/>
                <a:latin typeface="Arial" panose="020B0604020202020204" pitchFamily="34" charset="0"/>
              </a:rPr>
              <a:t> – Data visualization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Seaborn</a:t>
            </a:r>
            <a:r>
              <a:rPr kumimoji="0" lang="en-US" altLang="en-US" b="0" i="0" u="none" strike="noStrike" cap="none" normalizeH="0" baseline="0" dirty="0">
                <a:ln>
                  <a:noFill/>
                </a:ln>
                <a:solidFill>
                  <a:schemeClr val="tx1"/>
                </a:solidFill>
                <a:effectLst/>
                <a:latin typeface="Arial" panose="020B0604020202020204" pitchFamily="34" charset="0"/>
              </a:rPr>
              <a:t> – Statistical visualization and charts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Google </a:t>
            </a:r>
            <a:r>
              <a:rPr kumimoji="0" lang="en-US" altLang="en-US" b="1" i="0" u="none" strike="noStrike" cap="none" normalizeH="0" baseline="0" dirty="0" err="1">
                <a:ln>
                  <a:noFill/>
                </a:ln>
                <a:solidFill>
                  <a:schemeClr val="tx1"/>
                </a:solidFill>
                <a:effectLst/>
                <a:latin typeface="Arial" panose="020B0604020202020204" pitchFamily="34" charset="0"/>
              </a:rPr>
              <a:t>Colab</a:t>
            </a:r>
            <a:r>
              <a:rPr kumimoji="0" lang="en-US" altLang="en-US" b="0" i="0" u="none" strike="noStrike" cap="none" normalizeH="0" baseline="0" dirty="0">
                <a:ln>
                  <a:noFill/>
                </a:ln>
                <a:solidFill>
                  <a:schemeClr val="tx1"/>
                </a:solidFill>
                <a:effectLst/>
                <a:latin typeface="Arial" panose="020B0604020202020204" pitchFamily="34" charset="0"/>
              </a:rPr>
              <a:t> – Cloud-based development and execution environment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Jupyter</a:t>
            </a:r>
            <a:r>
              <a:rPr kumimoji="0" lang="en-US" altLang="en-US" b="1" i="0" u="none" strike="noStrike" cap="none" normalizeH="0" baseline="0" dirty="0">
                <a:ln>
                  <a:noFill/>
                </a:ln>
                <a:solidFill>
                  <a:schemeClr val="tx1"/>
                </a:solidFill>
                <a:effectLst/>
                <a:latin typeface="Arial" panose="020B0604020202020204" pitchFamily="34" charset="0"/>
              </a:rPr>
              <a:t> Notebook</a:t>
            </a:r>
            <a:r>
              <a:rPr kumimoji="0" lang="en-US" altLang="en-US" b="0" i="0" u="none" strike="noStrike" cap="none" normalizeH="0" baseline="0" dirty="0">
                <a:ln>
                  <a:noFill/>
                </a:ln>
                <a:solidFill>
                  <a:schemeClr val="tx1"/>
                </a:solidFill>
                <a:effectLst/>
                <a:latin typeface="Arial" panose="020B0604020202020204" pitchFamily="34" charset="0"/>
              </a:rPr>
              <a:t> – Interactive analysis and documentation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sz="3600" dirty="0"/>
              <a:t>RESULTS </a:t>
            </a:r>
            <a:endParaRPr lang="en-IN" sz="36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E988D64-77F7-4374-9E39-671AA6213583}"/>
              </a:ext>
            </a:extLst>
          </p:cNvPr>
          <p:cNvSpPr txBox="1"/>
          <p:nvPr/>
        </p:nvSpPr>
        <p:spPr>
          <a:xfrm>
            <a:off x="675958" y="1411257"/>
            <a:ext cx="10042400" cy="1477328"/>
          </a:xfrm>
          <a:prstGeom prst="rect">
            <a:avLst/>
          </a:prstGeom>
          <a:noFill/>
        </p:spPr>
        <p:txBody>
          <a:bodyPr wrap="square" rtlCol="0">
            <a:spAutoFit/>
          </a:bodyPr>
          <a:lstStyle/>
          <a:p>
            <a:r>
              <a:rPr lang="en-US" b="1" dirty="0"/>
              <a:t>1. Seasonal Profit Performance</a:t>
            </a:r>
          </a:p>
          <a:p>
            <a:pPr>
              <a:buFont typeface="Arial" panose="020B0604020202020204" pitchFamily="34" charset="0"/>
              <a:buChar char="•"/>
            </a:pPr>
            <a:r>
              <a:rPr lang="en-US" b="1" dirty="0"/>
              <a:t>Kharif</a:t>
            </a:r>
            <a:r>
              <a:rPr lang="en-US" dirty="0"/>
              <a:t> achieved the highest average profit: </a:t>
            </a:r>
            <a:r>
              <a:rPr lang="en-US" b="1" dirty="0"/>
              <a:t>₹178,914.65</a:t>
            </a:r>
            <a:r>
              <a:rPr lang="en-US" dirty="0"/>
              <a:t> </a:t>
            </a:r>
          </a:p>
          <a:p>
            <a:pPr>
              <a:buFont typeface="Arial" panose="020B0604020202020204" pitchFamily="34" charset="0"/>
              <a:buChar char="•"/>
            </a:pPr>
            <a:r>
              <a:rPr lang="en-US" b="1" dirty="0"/>
              <a:t>Rabi:</a:t>
            </a:r>
            <a:r>
              <a:rPr lang="en-US" dirty="0"/>
              <a:t> ₹87,689.47 </a:t>
            </a:r>
          </a:p>
          <a:p>
            <a:pPr>
              <a:buFont typeface="Arial" panose="020B0604020202020204" pitchFamily="34" charset="0"/>
              <a:buChar char="•"/>
            </a:pPr>
            <a:r>
              <a:rPr lang="en-US" b="1" dirty="0"/>
              <a:t>Zaid:</a:t>
            </a:r>
            <a:r>
              <a:rPr lang="en-US" dirty="0"/>
              <a:t> </a:t>
            </a:r>
            <a:r>
              <a:rPr lang="en-US" b="1" dirty="0"/>
              <a:t>-₹24,804.82</a:t>
            </a:r>
            <a:endParaRPr lang="en-US" dirty="0"/>
          </a:p>
          <a:p>
            <a:endParaRPr lang="en-IN" dirty="0"/>
          </a:p>
        </p:txBody>
      </p:sp>
      <p:pic>
        <p:nvPicPr>
          <p:cNvPr id="3074" name="Picture 2">
            <a:extLst>
              <a:ext uri="{FF2B5EF4-FFF2-40B4-BE49-F238E27FC236}">
                <a16:creationId xmlns:a16="http://schemas.microsoft.com/office/drawing/2014/main" id="{1F43031F-DA18-4C2F-9585-E489119655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9832" y="3024471"/>
            <a:ext cx="4595855" cy="2878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00B23159-6A00-4BD9-921F-0BEE4AA4F97A}"/>
              </a:ext>
            </a:extLst>
          </p:cNvPr>
          <p:cNvSpPr txBox="1"/>
          <p:nvPr/>
        </p:nvSpPr>
        <p:spPr>
          <a:xfrm>
            <a:off x="803082" y="1229652"/>
            <a:ext cx="6750657" cy="1754326"/>
          </a:xfrm>
          <a:prstGeom prst="rect">
            <a:avLst/>
          </a:prstGeom>
          <a:noFill/>
        </p:spPr>
        <p:txBody>
          <a:bodyPr wrap="square" rtlCol="0">
            <a:spAutoFit/>
          </a:bodyPr>
          <a:lstStyle/>
          <a:p>
            <a:r>
              <a:rPr lang="en-US" b="1" dirty="0"/>
              <a:t>2. Crop Profitability</a:t>
            </a:r>
          </a:p>
          <a:p>
            <a:pPr marL="285750" indent="-285750">
              <a:buFont typeface="Wingdings" panose="05000000000000000000" pitchFamily="2" charset="2"/>
              <a:buChar char="§"/>
            </a:pPr>
            <a:r>
              <a:rPr lang="en-US" b="1" dirty="0"/>
              <a:t>Sugarcane:</a:t>
            </a:r>
            <a:r>
              <a:rPr lang="en-US" dirty="0"/>
              <a:t> ₹817,187.99 average profit </a:t>
            </a:r>
          </a:p>
          <a:p>
            <a:pPr marL="285750" indent="-285750">
              <a:buFont typeface="Wingdings" panose="05000000000000000000" pitchFamily="2" charset="2"/>
              <a:buChar char="§"/>
            </a:pPr>
            <a:r>
              <a:rPr lang="en-US" b="1" dirty="0" err="1"/>
              <a:t>Chilli</a:t>
            </a:r>
            <a:r>
              <a:rPr lang="en-US" b="1" dirty="0"/>
              <a:t>:</a:t>
            </a:r>
            <a:r>
              <a:rPr lang="en-US" dirty="0"/>
              <a:t> ₹750,878.34 </a:t>
            </a:r>
          </a:p>
          <a:p>
            <a:pPr marL="285750" indent="-285750">
              <a:buFont typeface="Wingdings" panose="05000000000000000000" pitchFamily="2" charset="2"/>
              <a:buChar char="§"/>
            </a:pPr>
            <a:r>
              <a:rPr lang="en-US" b="1" dirty="0"/>
              <a:t>Cotton:</a:t>
            </a:r>
            <a:r>
              <a:rPr lang="en-US" dirty="0"/>
              <a:t> ₹124,546.92 </a:t>
            </a:r>
          </a:p>
          <a:p>
            <a:pPr marL="285750" indent="-285750">
              <a:buFont typeface="Wingdings" panose="05000000000000000000" pitchFamily="2" charset="2"/>
              <a:buChar char="§"/>
            </a:pPr>
            <a:r>
              <a:rPr lang="en-US" dirty="0"/>
              <a:t>Wheat, Rice and Maize showed negative average profits.</a:t>
            </a:r>
          </a:p>
          <a:p>
            <a:endParaRPr lang="en-IN" dirty="0"/>
          </a:p>
        </p:txBody>
      </p:sp>
      <p:pic>
        <p:nvPicPr>
          <p:cNvPr id="4098" name="Picture 2">
            <a:extLst>
              <a:ext uri="{FF2B5EF4-FFF2-40B4-BE49-F238E27FC236}">
                <a16:creationId xmlns:a16="http://schemas.microsoft.com/office/drawing/2014/main" id="{529DD6A1-1F60-4779-85B1-64592E5306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108" y="3004064"/>
            <a:ext cx="7828308" cy="3050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76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3" y="1431693"/>
            <a:ext cx="9521581" cy="850332"/>
          </a:xfrm>
        </p:spPr>
        <p:txBody>
          <a:bodyPr>
            <a:normAutofit fontScale="85000" lnSpcReduction="20000"/>
          </a:bodyPr>
          <a:lstStyle/>
          <a:p>
            <a:pPr marL="0" indent="0">
              <a:buNone/>
            </a:pPr>
            <a:r>
              <a:rPr lang="en-US" b="1" dirty="0"/>
              <a:t>3. Crop × Season Analysis</a:t>
            </a:r>
          </a:p>
          <a:p>
            <a:pPr algn="just"/>
            <a:r>
              <a:rPr lang="en-US" dirty="0"/>
              <a:t>The analysis shows that profitability varies depending on </a:t>
            </a:r>
            <a:r>
              <a:rPr lang="en-US" b="1" dirty="0"/>
              <a:t>both crop and season</a:t>
            </a:r>
            <a:r>
              <a:rPr lang="en-US" dirty="0"/>
              <a:t>, helping identify more suitable crop-season combinations.</a:t>
            </a:r>
          </a:p>
          <a:p>
            <a:pPr marL="0" indent="0">
              <a:buNone/>
            </a:pPr>
            <a:endParaRPr lang="en-IN" dirty="0"/>
          </a:p>
        </p:txBody>
      </p:sp>
      <p:pic>
        <p:nvPicPr>
          <p:cNvPr id="5122" name="Picture 2">
            <a:extLst>
              <a:ext uri="{FF2B5EF4-FFF2-40B4-BE49-F238E27FC236}">
                <a16:creationId xmlns:a16="http://schemas.microsoft.com/office/drawing/2014/main" id="{FF42C754-BADC-471E-A575-EDEB61FFD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1164" y="2438347"/>
            <a:ext cx="7311762" cy="4049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3" y="1431693"/>
            <a:ext cx="2582348" cy="913942"/>
          </a:xfrm>
        </p:spPr>
        <p:txBody>
          <a:bodyPr>
            <a:noAutofit/>
          </a:bodyPr>
          <a:lstStyle/>
          <a:p>
            <a:pPr marL="0" indent="0">
              <a:buNone/>
            </a:pPr>
            <a:r>
              <a:rPr lang="en-US" sz="1600" b="1" dirty="0"/>
              <a:t>4. Correlation Analysis</a:t>
            </a:r>
          </a:p>
          <a:p>
            <a:r>
              <a:rPr lang="en-US" sz="1600" b="1" dirty="0"/>
              <a:t>Farm Area and Total Cost:</a:t>
            </a:r>
            <a:r>
              <a:rPr lang="en-US" sz="1600" dirty="0"/>
              <a:t> correlation = </a:t>
            </a:r>
            <a:r>
              <a:rPr lang="en-US" sz="1600" b="1" dirty="0"/>
              <a:t>0.962</a:t>
            </a:r>
            <a:r>
              <a:rPr lang="en-US" sz="1600" dirty="0"/>
              <a:t> </a:t>
            </a:r>
          </a:p>
          <a:p>
            <a:r>
              <a:rPr lang="en-US" sz="1600" dirty="0"/>
              <a:t>This indicates a </a:t>
            </a:r>
            <a:r>
              <a:rPr lang="en-US" sz="1600" b="1" dirty="0"/>
              <a:t>very strong positive relationship</a:t>
            </a:r>
            <a:r>
              <a:rPr lang="en-US" sz="1600" dirty="0"/>
              <a:t> between farm size and total agricultural cost.</a:t>
            </a:r>
          </a:p>
          <a:p>
            <a:pPr marL="0" indent="0">
              <a:buNone/>
            </a:pPr>
            <a:endParaRPr lang="en-IN" sz="1600" dirty="0"/>
          </a:p>
        </p:txBody>
      </p:sp>
      <p:pic>
        <p:nvPicPr>
          <p:cNvPr id="6146" name="Picture 2">
            <a:extLst>
              <a:ext uri="{FF2B5EF4-FFF2-40B4-BE49-F238E27FC236}">
                <a16:creationId xmlns:a16="http://schemas.microsoft.com/office/drawing/2014/main" id="{583FF99F-6BF6-4D21-8A64-2E9A836A90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5693" y="1431693"/>
            <a:ext cx="6533009" cy="5210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3" y="1431692"/>
            <a:ext cx="9055294" cy="1224043"/>
          </a:xfrm>
        </p:spPr>
        <p:txBody>
          <a:bodyPr>
            <a:normAutofit fontScale="25000" lnSpcReduction="20000"/>
          </a:bodyPr>
          <a:lstStyle/>
          <a:p>
            <a:pPr marL="0" indent="0">
              <a:buNone/>
            </a:pPr>
            <a:r>
              <a:rPr lang="en-US" sz="7200" b="1" dirty="0"/>
              <a:t>5. Profit &amp; Production Variability</a:t>
            </a:r>
          </a:p>
          <a:p>
            <a:pPr marL="0" indent="0" algn="just">
              <a:buNone/>
            </a:pPr>
            <a:r>
              <a:rPr lang="en-US" sz="6000" dirty="0"/>
              <a:t>Profit shows the highest number of outliers (10.10%), followed by production (8.33%) and yield (7.55%). This indicates considerable variation in farm-level agricultural performance and highlights the need to investigate unusually high or low-performing observations.</a:t>
            </a:r>
            <a:endParaRPr lang="en-IN" dirty="0"/>
          </a:p>
        </p:txBody>
      </p:sp>
      <p:pic>
        <p:nvPicPr>
          <p:cNvPr id="7170" name="Picture 2">
            <a:extLst>
              <a:ext uri="{FF2B5EF4-FFF2-40B4-BE49-F238E27FC236}">
                <a16:creationId xmlns:a16="http://schemas.microsoft.com/office/drawing/2014/main" id="{2A3E023F-3D60-47A0-A644-C1BDA30B19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0374" y="2812056"/>
            <a:ext cx="5538598" cy="3651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p:txBody>
          <a:bodyPr>
            <a:normAutofit/>
          </a:bodyPr>
          <a:lstStyle/>
          <a:p>
            <a:r>
              <a:rPr lang="en-IN" sz="4000" dirty="0">
                <a:solidFill>
                  <a:schemeClr val="tx1"/>
                </a:solidFill>
              </a:rPr>
              <a:t>Future Scope</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B9670935-F917-4DBF-B488-9816B7758895}"/>
              </a:ext>
            </a:extLst>
          </p:cNvPr>
          <p:cNvSpPr>
            <a:spLocks noChangeArrowheads="1"/>
          </p:cNvSpPr>
          <p:nvPr/>
        </p:nvSpPr>
        <p:spPr bwMode="auto">
          <a:xfrm>
            <a:off x="1747519" y="1746488"/>
            <a:ext cx="7654660"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Crop Yield Prediction</a:t>
            </a:r>
            <a:r>
              <a:rPr kumimoji="0" lang="en-US" altLang="en-US" sz="1800" b="0" i="0" u="none" strike="noStrike" cap="none" normalizeH="0" baseline="0" dirty="0">
                <a:ln>
                  <a:noFill/>
                </a:ln>
                <a:solidFill>
                  <a:schemeClr val="tx1"/>
                </a:solidFill>
                <a:effectLst/>
                <a:latin typeface="Arial" panose="020B0604020202020204" pitchFamily="34" charset="0"/>
              </a:rPr>
              <a:t> using Machine Learning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Profitability Prediction</a:t>
            </a:r>
            <a:r>
              <a:rPr kumimoji="0" lang="en-US" altLang="en-US" sz="1800" b="0" i="0" u="none" strike="noStrike" cap="none" normalizeH="0" baseline="0" dirty="0">
                <a:ln>
                  <a:noFill/>
                </a:ln>
                <a:solidFill>
                  <a:schemeClr val="tx1"/>
                </a:solidFill>
                <a:effectLst/>
                <a:latin typeface="Arial" panose="020B0604020202020204" pitchFamily="34" charset="0"/>
              </a:rPr>
              <a:t> for different crops and seasons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Smart Crop Recommendation</a:t>
            </a:r>
            <a:r>
              <a:rPr kumimoji="0" lang="en-US" altLang="en-US" sz="1800" b="0" i="0" u="none" strike="noStrike" cap="none" normalizeH="0" baseline="0" dirty="0">
                <a:ln>
                  <a:noFill/>
                </a:ln>
                <a:solidFill>
                  <a:schemeClr val="tx1"/>
                </a:solidFill>
                <a:effectLst/>
                <a:latin typeface="Arial" panose="020B0604020202020204" pitchFamily="34" charset="0"/>
              </a:rPr>
              <a:t> based on soil and weather conditions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Weather &amp; Rainfall Integration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IoT-based Soil &amp; Irrigation Monitoring</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Market Price Forecasting</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Interactive Power BI Dashboard</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Farmer-focused Web/Mobile Application</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2598539" y="3007863"/>
            <a:ext cx="6837869" cy="707886"/>
          </a:xfrm>
          <a:prstGeom prst="rect">
            <a:avLst/>
          </a:prstGeom>
          <a:noFill/>
        </p:spPr>
        <p:txBody>
          <a:bodyPr wrap="square">
            <a:spAutoFit/>
          </a:bodyPr>
          <a:lstStyle/>
          <a:p>
            <a:r>
              <a:rPr lang="en-US" sz="4000" dirty="0">
                <a:hlinkClick r:id="rId3">
                  <a:extLst>
                    <a:ext uri="{A12FA001-AC4F-418D-AE19-62706E023703}">
                      <ahyp:hlinkClr xmlns:ahyp="http://schemas.microsoft.com/office/drawing/2018/hyperlinkcolor" val="tx"/>
                    </a:ext>
                  </a:extLst>
                </a:hlinkClick>
              </a:rPr>
              <a:t>View Project on GitHub</a:t>
            </a:r>
            <a:endParaRPr lang="en-US" sz="4000" dirty="0"/>
          </a:p>
        </p:txBody>
      </p:sp>
    </p:spTree>
    <p:extLst>
      <p:ext uri="{BB962C8B-B14F-4D97-AF65-F5344CB8AC3E}">
        <p14:creationId xmlns:p14="http://schemas.microsoft.com/office/powerpoint/2010/main" val="1403362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388085" y="287610"/>
            <a:ext cx="8596668" cy="666078"/>
          </a:xfrm>
        </p:spPr>
        <p:txBody>
          <a:bodyPr>
            <a:normAutofit/>
          </a:bodyPr>
          <a:lstStyle/>
          <a:p>
            <a:r>
              <a:rPr lang="en-IN" sz="1800" dirty="0">
                <a:solidFill>
                  <a:schemeClr val="tx1"/>
                </a:solidFill>
              </a:rPr>
              <a:t>VOIS Course completion certificate - </a:t>
            </a:r>
            <a:br>
              <a:rPr lang="en-IN" sz="1800" dirty="0">
                <a:solidFill>
                  <a:schemeClr val="tx1"/>
                </a:solidFill>
              </a:rPr>
            </a:br>
            <a:r>
              <a:rPr lang="en-IN" sz="1800" dirty="0">
                <a:solidFill>
                  <a:schemeClr val="tx1"/>
                </a:solidFill>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65B5E79-8DC0-4E2F-A816-F649016C29EF}"/>
              </a:ext>
            </a:extLst>
          </p:cNvPr>
          <p:cNvPicPr>
            <a:picLocks noChangeAspect="1"/>
          </p:cNvPicPr>
          <p:nvPr/>
        </p:nvPicPr>
        <p:blipFill>
          <a:blip r:embed="rId3"/>
          <a:stretch>
            <a:fillRect/>
          </a:stretch>
        </p:blipFill>
        <p:spPr>
          <a:xfrm>
            <a:off x="1790344" y="1129522"/>
            <a:ext cx="7276061" cy="514998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idx="4294967295"/>
          </p:nvPr>
        </p:nvSpPr>
        <p:spPr>
          <a:xfrm>
            <a:off x="4979006" y="4498675"/>
            <a:ext cx="7653922" cy="700088"/>
          </a:xfrm>
          <a:prstGeom prst="rect">
            <a:avLst/>
          </a:prstGeom>
        </p:spPr>
        <p:txBody>
          <a:bodyPr anchor="ctr">
            <a:noAutofit/>
          </a:bodyPr>
          <a:lstStyle/>
          <a:p>
            <a:pPr algn="ctr"/>
            <a:r>
              <a:rPr lang="en-IN" sz="2400" dirty="0">
                <a:solidFill>
                  <a:schemeClr val="tx1"/>
                </a:solidFill>
              </a:rPr>
              <a:t>Presented by:</a:t>
            </a:r>
            <a:br>
              <a:rPr lang="en-IN" sz="2400" dirty="0">
                <a:solidFill>
                  <a:schemeClr val="tx1"/>
                </a:solidFill>
              </a:rPr>
            </a:br>
            <a:r>
              <a:rPr lang="en-IN" sz="2400" dirty="0">
                <a:solidFill>
                  <a:schemeClr val="tx1"/>
                </a:solidFill>
              </a:rPr>
              <a:t>Nikhil Vamsi</a:t>
            </a:r>
            <a:endParaRPr lang="en-US" sz="2400" dirty="0">
              <a:solidFill>
                <a:schemeClr val="tx1"/>
              </a:solidFill>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4294967295"/>
          </p:nvPr>
        </p:nvSpPr>
        <p:spPr>
          <a:xfrm>
            <a:off x="1155390" y="703651"/>
            <a:ext cx="10055101" cy="541159"/>
          </a:xfrm>
        </p:spPr>
        <p:txBody>
          <a:bodyPr>
            <a:normAutofit/>
          </a:bodyPr>
          <a:lstStyle/>
          <a:p>
            <a:pPr marL="0" indent="0" algn="ctr">
              <a:buNone/>
            </a:pPr>
            <a:r>
              <a:rPr lang="en-IN" sz="2000" b="1" dirty="0"/>
              <a:t>Seasonal Agriculture Performance Analysis</a:t>
            </a:r>
            <a:endParaRPr lang="en-US" sz="2000" b="1" dirty="0"/>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1092941" y="4498675"/>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568112" y="4326468"/>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8003767" y="4326467"/>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310604" y="5005820"/>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805967" y="5005820"/>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1092941" y="6430117"/>
            <a:ext cx="2143125" cy="193040"/>
          </a:xfrm>
          <a:prstGeom prst="rect">
            <a:avLst/>
          </a:prstGeom>
        </p:spPr>
      </p:pic>
      <p:sp>
        <p:nvSpPr>
          <p:cNvPr id="14" name="TextBox 13">
            <a:extLst>
              <a:ext uri="{FF2B5EF4-FFF2-40B4-BE49-F238E27FC236}">
                <a16:creationId xmlns:a16="http://schemas.microsoft.com/office/drawing/2014/main" id="{DDE11C93-7389-44B5-9DE9-830DB718FC9D}"/>
              </a:ext>
            </a:extLst>
          </p:cNvPr>
          <p:cNvSpPr txBox="1"/>
          <p:nvPr/>
        </p:nvSpPr>
        <p:spPr>
          <a:xfrm>
            <a:off x="1529289" y="1951351"/>
            <a:ext cx="5337110" cy="369332"/>
          </a:xfrm>
          <a:prstGeom prst="rect">
            <a:avLst/>
          </a:prstGeom>
          <a:noFill/>
        </p:spPr>
        <p:txBody>
          <a:bodyPr wrap="square" rtlCol="0">
            <a:spAutoFit/>
          </a:bodyPr>
          <a:lstStyle/>
          <a:p>
            <a:r>
              <a:rPr lang="en-IN" b="1" dirty="0"/>
              <a:t>Project:</a:t>
            </a:r>
            <a:r>
              <a:rPr lang="en-IN" dirty="0"/>
              <a:t> Data Analytics &amp; Visualization</a:t>
            </a:r>
          </a:p>
        </p:txBody>
      </p:sp>
      <p:sp>
        <p:nvSpPr>
          <p:cNvPr id="16" name="TextBox 15">
            <a:extLst>
              <a:ext uri="{FF2B5EF4-FFF2-40B4-BE49-F238E27FC236}">
                <a16:creationId xmlns:a16="http://schemas.microsoft.com/office/drawing/2014/main" id="{0A80CFA1-8467-41AF-B3E8-B60473EA899C}"/>
              </a:ext>
            </a:extLst>
          </p:cNvPr>
          <p:cNvSpPr txBox="1"/>
          <p:nvPr/>
        </p:nvSpPr>
        <p:spPr>
          <a:xfrm>
            <a:off x="3142151" y="3063500"/>
            <a:ext cx="4851921" cy="1103315"/>
          </a:xfrm>
          <a:prstGeom prst="rect">
            <a:avLst/>
          </a:prstGeom>
          <a:noFill/>
        </p:spPr>
        <p:txBody>
          <a:bodyPr wrap="square" rtlCol="0">
            <a:spAutoFit/>
          </a:bodyPr>
          <a:lstStyle/>
          <a:p>
            <a:pPr algn="ctr">
              <a:lnSpc>
                <a:spcPct val="150000"/>
              </a:lnSpc>
            </a:pPr>
            <a:r>
              <a:rPr lang="en-US" sz="2800" b="1" dirty="0"/>
              <a:t>Thank You</a:t>
            </a:r>
            <a:br>
              <a:rPr lang="en-US" dirty="0"/>
            </a:br>
            <a:r>
              <a:rPr lang="en-US" b="1" dirty="0"/>
              <a:t>Questions &amp; Discussion</a:t>
            </a:r>
            <a:endParaRPr lang="en-IN" dirty="0"/>
          </a:p>
        </p:txBody>
      </p:sp>
      <p:sp>
        <p:nvSpPr>
          <p:cNvPr id="19" name="TextBox 18">
            <a:extLst>
              <a:ext uri="{FF2B5EF4-FFF2-40B4-BE49-F238E27FC236}">
                <a16:creationId xmlns:a16="http://schemas.microsoft.com/office/drawing/2014/main" id="{D5D21498-EEB8-4583-BF62-48AD72225A88}"/>
              </a:ext>
            </a:extLst>
          </p:cNvPr>
          <p:cNvSpPr txBox="1"/>
          <p:nvPr/>
        </p:nvSpPr>
        <p:spPr>
          <a:xfrm>
            <a:off x="597159" y="6438491"/>
            <a:ext cx="2071396" cy="369332"/>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purl.org/dc/elements/1.1/"/>
    <ds:schemaRef ds:uri="http://purl.org/dc/terms/"/>
    <ds:schemaRef ds:uri="http://www.w3.org/XML/1998/namespace"/>
    <ds:schemaRef ds:uri="http://schemas.microsoft.com/office/2006/documentManagement/types"/>
    <ds:schemaRef ds:uri="http://schemas.openxmlformats.org/package/2006/metadata/core-properties"/>
    <ds:schemaRef ds:uri="71af3243-3dd4-4a8d-8c0d-dd76da1f02a5"/>
    <ds:schemaRef ds:uri="16c05727-aa75-4e4a-9b5f-8a80a1165891"/>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1477</TotalTime>
  <Words>536</Words>
  <Application>Microsoft Office PowerPoint</Application>
  <PresentationFormat>Widescreen</PresentationFormat>
  <Paragraphs>63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Presented by: Nikhil Vamsi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nikhil vamsi _</cp:lastModifiedBy>
  <cp:revision>111</cp:revision>
  <dcterms:created xsi:type="dcterms:W3CDTF">2021-07-11T13:13:15Z</dcterms:created>
  <dcterms:modified xsi:type="dcterms:W3CDTF">2026-09-05T07:16:29Z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